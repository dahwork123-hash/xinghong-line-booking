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00d43acabd4ecd" /><Relationship Type="http://schemas.openxmlformats.org/officeDocument/2006/relationships/extended-properties" Target="/docProps/app.xml" Id="R61bf2614cc244133" /><Relationship Type="http://schemas.openxmlformats.org/officeDocument/2006/relationships/officeDocument" Target="/ppt/presentation.xml" Id="Ra101c6dcffa746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49879085ab4b70"/>
  </p:sldMasterIdLst>
  <p:notesMasterIdLst>
    <p:notesMasterId xmlns:r="http://schemas.openxmlformats.org/officeDocument/2006/relationships" r:id="R51425396239c4f97"/>
  </p:notesMasterIdLst>
  <p:sldIdLst>
    <p:sldId xmlns:r="http://schemas.openxmlformats.org/officeDocument/2006/relationships" id="256" r:id="R4e9287a2e36843d5"/>
    <p:sldId xmlns:r="http://schemas.openxmlformats.org/officeDocument/2006/relationships" id="257" r:id="R9aef36235b2d4e78"/>
    <p:sldId xmlns:r="http://schemas.openxmlformats.org/officeDocument/2006/relationships" id="258" r:id="R515e22eaad474ec5"/>
    <p:sldId xmlns:r="http://schemas.openxmlformats.org/officeDocument/2006/relationships" id="259" r:id="R826d560437fd4b33"/>
    <p:sldId xmlns:r="http://schemas.openxmlformats.org/officeDocument/2006/relationships" id="260" r:id="R780a7952da6f441a"/>
    <p:sldId xmlns:r="http://schemas.openxmlformats.org/officeDocument/2006/relationships" id="261" r:id="R8e017e359fea4ba7"/>
    <p:sldId xmlns:r="http://schemas.openxmlformats.org/officeDocument/2006/relationships" id="262" r:id="R134f2f9475084f3f"/>
    <p:sldId xmlns:r="http://schemas.openxmlformats.org/officeDocument/2006/relationships" id="263" r:id="R87eb52c03d734813"/>
    <p:sldId xmlns:r="http://schemas.openxmlformats.org/officeDocument/2006/relationships" id="264" r:id="R4849b5044c734f75"/>
    <p:sldId xmlns:r="http://schemas.openxmlformats.org/officeDocument/2006/relationships" id="265" r:id="Rf6908a7733084486"/>
    <p:sldId xmlns:r="http://schemas.openxmlformats.org/officeDocument/2006/relationships" id="266" r:id="R96e9b32d72894b57"/>
    <p:sldId xmlns:r="http://schemas.openxmlformats.org/officeDocument/2006/relationships" id="267" r:id="Raec4dd6d6c544f31"/>
    <p:sldId xmlns:r="http://schemas.openxmlformats.org/officeDocument/2006/relationships" id="268" r:id="R90adad81ab294b7e"/>
    <p:sldId xmlns:r="http://schemas.openxmlformats.org/officeDocument/2006/relationships" id="269" r:id="R235cc911afa14307"/>
    <p:sldId xmlns:r="http://schemas.openxmlformats.org/officeDocument/2006/relationships" id="270" r:id="R7059d0e9d7e74bd5"/>
    <p:sldId xmlns:r="http://schemas.openxmlformats.org/officeDocument/2006/relationships" id="271" r:id="R7686c1cb15a64002"/>
    <p:sldId xmlns:r="http://schemas.openxmlformats.org/officeDocument/2006/relationships" id="272" r:id="R0ee32193410b41d5"/>
    <p:sldId xmlns:r="http://schemas.openxmlformats.org/officeDocument/2006/relationships" id="273" r:id="Rf535a03fdca246bc"/>
    <p:sldId xmlns:r="http://schemas.openxmlformats.org/officeDocument/2006/relationships" id="274" r:id="R56fe7913d51c40b2"/>
    <p:sldId xmlns:r="http://schemas.openxmlformats.org/officeDocument/2006/relationships" id="275" r:id="Ra5d8af86d69a4ce7"/>
    <p:sldId xmlns:r="http://schemas.openxmlformats.org/officeDocument/2006/relationships" id="276" r:id="R1753b1c3ed7d408c"/>
    <p:sldId xmlns:r="http://schemas.openxmlformats.org/officeDocument/2006/relationships" id="277" r:id="Rbc01e4a084b54041"/>
    <p:sldId xmlns:r="http://schemas.openxmlformats.org/officeDocument/2006/relationships" id="278" r:id="R180019b4e9934824"/>
    <p:sldId xmlns:r="http://schemas.openxmlformats.org/officeDocument/2006/relationships" id="279" r:id="R76d7d5ee7609438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8b849f14dc4d15" /><Relationship Type="http://schemas.openxmlformats.org/officeDocument/2006/relationships/slideMaster" Target="/ppt/slideMasters/slideMaster1.xml" Id="R2a49879085ab4b70" /><Relationship Type="http://schemas.openxmlformats.org/officeDocument/2006/relationships/notesMaster" Target="/ppt/notesMasters/notesMaster1.xml" Id="R51425396239c4f97" /><Relationship Type="http://schemas.openxmlformats.org/officeDocument/2006/relationships/presProps" Target="/ppt/presProps.xml" Id="R9fb0ca029dd84441" /><Relationship Type="http://schemas.openxmlformats.org/officeDocument/2006/relationships/tableStyles" Target="/ppt/tableStyles.xml" Id="R248dd9060bcf4bcf" /><Relationship Type="http://schemas.openxmlformats.org/officeDocument/2006/relationships/slide" Target="/ppt/slides/slide1.xml" Id="R4e9287a2e36843d5" /><Relationship Type="http://schemas.openxmlformats.org/officeDocument/2006/relationships/slide" Target="/ppt/slides/slide2.xml" Id="R9aef36235b2d4e78" /><Relationship Type="http://schemas.openxmlformats.org/officeDocument/2006/relationships/slide" Target="/ppt/slides/slide3.xml" Id="R515e22eaad474ec5" /><Relationship Type="http://schemas.openxmlformats.org/officeDocument/2006/relationships/slide" Target="/ppt/slides/slide4.xml" Id="R826d560437fd4b33" /><Relationship Type="http://schemas.openxmlformats.org/officeDocument/2006/relationships/slide" Target="/ppt/slides/slide5.xml" Id="R780a7952da6f441a" /><Relationship Type="http://schemas.openxmlformats.org/officeDocument/2006/relationships/slide" Target="/ppt/slides/slide6.xml" Id="R8e017e359fea4ba7" /><Relationship Type="http://schemas.openxmlformats.org/officeDocument/2006/relationships/slide" Target="/ppt/slides/slide7.xml" Id="R134f2f9475084f3f" /><Relationship Type="http://schemas.openxmlformats.org/officeDocument/2006/relationships/slide" Target="/ppt/slides/slide8.xml" Id="R87eb52c03d734813" /><Relationship Type="http://schemas.openxmlformats.org/officeDocument/2006/relationships/slide" Target="/ppt/slides/slide9.xml" Id="R4849b5044c734f75" /><Relationship Type="http://schemas.openxmlformats.org/officeDocument/2006/relationships/slide" Target="/ppt/slides/slide10.xml" Id="Rf6908a7733084486" /><Relationship Type="http://schemas.openxmlformats.org/officeDocument/2006/relationships/slide" Target="/ppt/slides/slide11.xml" Id="R96e9b32d72894b57" /><Relationship Type="http://schemas.openxmlformats.org/officeDocument/2006/relationships/slide" Target="/ppt/slides/slide12.xml" Id="Raec4dd6d6c544f31" /><Relationship Type="http://schemas.openxmlformats.org/officeDocument/2006/relationships/slide" Target="/ppt/slides/slide13.xml" Id="R90adad81ab294b7e" /><Relationship Type="http://schemas.openxmlformats.org/officeDocument/2006/relationships/slide" Target="/ppt/slides/slide14.xml" Id="R235cc911afa14307" /><Relationship Type="http://schemas.openxmlformats.org/officeDocument/2006/relationships/slide" Target="/ppt/slides/slide15.xml" Id="R7059d0e9d7e74bd5" /><Relationship Type="http://schemas.openxmlformats.org/officeDocument/2006/relationships/slide" Target="/ppt/slides/slide16.xml" Id="R7686c1cb15a64002" /><Relationship Type="http://schemas.openxmlformats.org/officeDocument/2006/relationships/slide" Target="/ppt/slides/slide17.xml" Id="R0ee32193410b41d5" /><Relationship Type="http://schemas.openxmlformats.org/officeDocument/2006/relationships/slide" Target="/ppt/slides/slide18.xml" Id="Rf535a03fdca246bc" /><Relationship Type="http://schemas.openxmlformats.org/officeDocument/2006/relationships/slide" Target="/ppt/slides/slide19.xml" Id="R56fe7913d51c40b2" /><Relationship Type="http://schemas.openxmlformats.org/officeDocument/2006/relationships/slide" Target="/ppt/slides/slide20.xml" Id="Ra5d8af86d69a4ce7" /><Relationship Type="http://schemas.openxmlformats.org/officeDocument/2006/relationships/slide" Target="/ppt/slides/slide21.xml" Id="R1753b1c3ed7d408c" /><Relationship Type="http://schemas.openxmlformats.org/officeDocument/2006/relationships/slide" Target="/ppt/slides/slide22.xml" Id="Rbc01e4a084b54041" /><Relationship Type="http://schemas.openxmlformats.org/officeDocument/2006/relationships/slide" Target="/ppt/slides/slide23.xml" Id="R180019b4e9934824" /><Relationship Type="http://schemas.openxmlformats.org/officeDocument/2006/relationships/slide" Target="/ppt/slides/slide24.xml" Id="R76d7d5ee760943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d6dcd638214f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ab2e3214bd4970" /><Relationship Type="http://schemas.openxmlformats.org/officeDocument/2006/relationships/notesMaster" Target="/ppt/notesMasters/notesMaster1.xml" Id="R70ee798a7c9743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44f5ffbc124be9" /><Relationship Type="http://schemas.openxmlformats.org/officeDocument/2006/relationships/notesMaster" Target="/ppt/notesMasters/notesMaster1.xml" Id="R3f8d62d4902a47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8be45596f740cc" /><Relationship Type="http://schemas.openxmlformats.org/officeDocument/2006/relationships/notesMaster" Target="/ppt/notesMasters/notesMaster1.xml" Id="Rd4dd6071045b4d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4975afd6e24ac3" /><Relationship Type="http://schemas.openxmlformats.org/officeDocument/2006/relationships/notesMaster" Target="/ppt/notesMasters/notesMaster1.xml" Id="R2f94321ba0be43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a79df9ea814e11" /><Relationship Type="http://schemas.openxmlformats.org/officeDocument/2006/relationships/notesMaster" Target="/ppt/notesMasters/notesMaster1.xml" Id="R0bc2eec2ccfb42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e11a05786e4764" /><Relationship Type="http://schemas.openxmlformats.org/officeDocument/2006/relationships/notesMaster" Target="/ppt/notesMasters/notesMaster1.xml" Id="Ra64fa004326048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c99dc647f44a3a" /><Relationship Type="http://schemas.openxmlformats.org/officeDocument/2006/relationships/notesMaster" Target="/ppt/notesMasters/notesMaster1.xml" Id="R8e3cd7f63dde4e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225536cb6d4004" /><Relationship Type="http://schemas.openxmlformats.org/officeDocument/2006/relationships/notesMaster" Target="/ppt/notesMasters/notesMaster1.xml" Id="Re1e4bc7bbe9741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25bc1bf0d3443b" /><Relationship Type="http://schemas.openxmlformats.org/officeDocument/2006/relationships/notesMaster" Target="/ppt/notesMasters/notesMaster1.xml" Id="R568099c59a7c4c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6b41b3f69548f9" /><Relationship Type="http://schemas.openxmlformats.org/officeDocument/2006/relationships/notesMaster" Target="/ppt/notesMasters/notesMaster1.xml" Id="R8bf6003c8cd146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e27ca0e3c64931" /><Relationship Type="http://schemas.openxmlformats.org/officeDocument/2006/relationships/notesMaster" Target="/ppt/notesMasters/notesMaster1.xml" Id="Raf7abea613d54a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2df0e51a3a4392" /><Relationship Type="http://schemas.openxmlformats.org/officeDocument/2006/relationships/notesMaster" Target="/ppt/notesMasters/notesMaster1.xml" Id="R0ccc6e5a188a4e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6bba07c1bc40c7" /><Relationship Type="http://schemas.openxmlformats.org/officeDocument/2006/relationships/notesMaster" Target="/ppt/notesMasters/notesMaster1.xml" Id="Re4e310eafe1840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d2e77a31ce4ca0" /><Relationship Type="http://schemas.openxmlformats.org/officeDocument/2006/relationships/notesMaster" Target="/ppt/notesMasters/notesMaster1.xml" Id="R65256254d4f445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e65024d1c54cda" /><Relationship Type="http://schemas.openxmlformats.org/officeDocument/2006/relationships/notesMaster" Target="/ppt/notesMasters/notesMaster1.xml" Id="Re75b0f7fbff743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443004f29c4076" /><Relationship Type="http://schemas.openxmlformats.org/officeDocument/2006/relationships/notesMaster" Target="/ppt/notesMasters/notesMaster1.xml" Id="Rcd0f6c3aef9e4c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538d5049fd44c3" /><Relationship Type="http://schemas.openxmlformats.org/officeDocument/2006/relationships/notesMaster" Target="/ppt/notesMasters/notesMaster1.xml" Id="R87cdda8d69454d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4b09ccdcce48c7" /><Relationship Type="http://schemas.openxmlformats.org/officeDocument/2006/relationships/notesMaster" Target="/ppt/notesMasters/notesMaster1.xml" Id="R3836fc7d2f7e42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e00c3f68f0415c" /><Relationship Type="http://schemas.openxmlformats.org/officeDocument/2006/relationships/notesMaster" Target="/ppt/notesMasters/notesMaster1.xml" Id="R36cdf145a9ff49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8e05752a1c4865" /><Relationship Type="http://schemas.openxmlformats.org/officeDocument/2006/relationships/notesMaster" Target="/ppt/notesMasters/notesMaster1.xml" Id="R227ba6d3e75049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2a3b2b37484c2a" /><Relationship Type="http://schemas.openxmlformats.org/officeDocument/2006/relationships/notesMaster" Target="/ppt/notesMasters/notesMaster1.xml" Id="R40643d2438a4481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977ff8d80742a2" /><Relationship Type="http://schemas.openxmlformats.org/officeDocument/2006/relationships/notesMaster" Target="/ppt/notesMasters/notesMaster1.xml" Id="Ra7de2ee4ce3849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c25ac68f8a4789" /><Relationship Type="http://schemas.openxmlformats.org/officeDocument/2006/relationships/notesMaster" Target="/ppt/notesMasters/notesMaster1.xml" Id="R048cc927fb434b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4cb159828c1455d" /><Relationship Type="http://schemas.openxmlformats.org/officeDocument/2006/relationships/notesMaster" Target="/ppt/notesMasters/notesMaster1.xml" Id="Rd8d3315b79f747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本簡報以更新後原型的真實本機截圖呈現，並非正式LINE截圖。舊版不限額、新收件匣、主管權限分級、到場維護及2小時截止提案不再適用。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14日含今天至第13天、一年起算與人工暫停期間自助異動的保守口徑已在01/02明列。現場超額例外不能變成系統不限額。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示意為邏輯架構，尚未部署。登入方案、備份及CPU配額需實測。資料庫是預約與容量唯一主檔。LINE簽章與事件特性以官方文件為準。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  <a:p xmlns:a="http://schemas.openxmlformats.org/drawingml/2006/main">
            <a:r>
              <a:t>官方參考：</a:t>
            </a:r>
          </a:p>
          <a:p xmlns:a="http://schemas.openxmlformats.org/drawingml/2006/main">
            <a:r>
              <a:t>https://developers.line.biz/en/docs/messaging-api/receiving-messages/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左圖為新預約入口示意，不是已修改的正式歡迎訊息。人力銀行與加入LINE的裝置過場依實際平台，不在本機原型模擬登入。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原型輸入框是聊天輸入示範，不代表原生聊天泡泡可嵌HTML表單。正式首版可使用聊天室逐項追問，不強制LIFF。個資告知與聯絡窗口上線前由公司提供。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畫面固定時鐘2026-09-07 09:00，電話全部假資料。正式LINE日期按鈕須分頁並遵守Quick Reply限制。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台中一般排程使用使用者確認的現行版。伺服器仍需驗證過期按鈕、職缺分組、身分、容量與截止，不能信任前端提供的名額。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畫面顯示DEMO編號，本機不是正式資料庫。真正跨裝置查詢必須從驗證身分及共享資料庫讀取。新成功文案為上線前校稿草稿。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本機已測取消確認、改期成功、額滿改期失败保留原約。正式版必須另用真實資料庫交易及故障注入驗證。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行政工作地點/薪資/工時未提供者轉人工，不自行套一般職缺佣金制。右圖是一般已滿仍能成功預約行政的本機測試結果。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左圖展示被禁用的額滿時段。右圖沿用使用者提供的薪資文案，不是外部事實查核或法律保證。首次出版的新功能文案需公司校稿。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示範種子12筆有效預約、其中行政3筆，共5個場次分組。全部是假資料。原型總覽只列已有預約的組，正式版需支援全部開放及空場查詢。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截圖為台中9/9 14:00一般組4筆。正式匯出不只取當前頁、不得含token、登入資料或多餘九欄個資，須測試公式注入。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保留1年也適用包含個資的快照、事件與備註，不為了歷程而永久保留個資。後台沒有報到／未到按鈕。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台中一11/14；二11/14/16；三10/14/16；四11/14/16；五14/16。行政三14。降低容量不刪已約人，停止新增並提示超額。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新功能文案是上線前待校稿，不和使用者原文混淆。日期、時間、地址及TOBY要從預約快照套入；必要或未知變數驗證不可略過。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本機已測按接手後重載仍暫停、其他身分不受影響及明確恢復。正式版需測已排隊回覆與接手競爭，發送前檢查最新模式。原LINE人工外發不能假定Webhook全量提供。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關閉招生和實際取消辦理的流程正式版要清楚標記。此次只有本機關閉測試，沒有傳任何LINE訊息。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候選人、場次、預約、active guard、conversation_states、模板版本、Webhook及delivery/audit為邏輯設計。不是已完成的migration。過去confirmed歷史不能阻擋再次預約。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此頁為工程約束，不是可直接執行SQL。D1 batch的零列更新不必然等同statement error，實作要明確防止條件不符後仍寫入。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  <a:p xmlns:a="http://schemas.openxmlformats.org/drawingml/2006/main">
            <a:r>
              <a:t>官方參考：</a:t>
            </a:r>
          </a:p>
          <a:p xmlns:a="http://schemas.openxmlformats.org/drawingml/2006/main">
            <a:r>
              <a:t>https://developers.cloudflare.com/d1/worker-api/d1-database/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Workers Free現行100k請求/日，D1 Free每日5m列讀/100k列寫、總5GB。不是永久免費保證。LINE方案已公告11/1調价，開發上線前再查。詳細來源與費用防線在01/02。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  <a:p xmlns:a="http://schemas.openxmlformats.org/drawingml/2006/main">
            <a:r>
              <a:t>官方參考：</a:t>
            </a:r>
          </a:p>
          <a:p xmlns:a="http://schemas.openxmlformats.org/drawingml/2006/main">
            <a:r>
              <a:t>https://developers.line.biz/en/docs/messaging-api/pricing/</a:t>
            </a:r>
          </a:p>
          <a:p xmlns:a="http://schemas.openxmlformats.org/drawingml/2006/main">
            <a:r>
              <a:t>https://tw.linebiz.com/column/LINEOA-2026-Price-Plan/</a:t>
            </a:r>
          </a:p>
          <a:p xmlns:a="http://schemas.openxmlformats.org/drawingml/2006/main">
            <a:r>
              <a:t>https://developers.cloudflare.com/workers/platform/pricing/</a:t>
            </a:r>
          </a:p>
          <a:p xmlns:a="http://schemas.openxmlformats.org/drawingml/2006/main">
            <a:r>
              <a:t>https://developers.cloudflare.com/d1/platform/pricing/</a:t>
            </a:r>
          </a:p>
          <a:p xmlns:a="http://schemas.openxmlformats.org/drawingml/2006/main">
            <a:r>
              <a:t>https://help.openai.com/en/articles/9039756-managing-billing-for-chatgpt-and-the-api-platform</a:t>
            </a:r>
          </a:p>
          <a:p xmlns:a="http://schemas.openxmlformats.org/drawingml/2006/main">
            <a:r>
              <a:t>https://support.claude.com/en/articles/9876003-i-have-a-paid-claude-subscription-pro-max-team-or-enterprise-plans-why-do-i-have-to-pay-separately-to-use-the-claude-api-and-console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原型在孤立無頭Edge及假資料執行。本次未瀏覽正式LINE或未讀訊息、未部署、未發送訊息。保存口徑是公司產品決策，不是法定期限意見。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03文件提供總指令、A～E完整分段prompt、接續提示及獨立review指令。AI沒有工具或權限時須坦承未執行，不能報假部署。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本包沒有帳號秘密或真實求職者資料。價格與平台功能上線前重新核對。原始歷史檔案留在原工作區，沒有混進本包。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依據：本交接包01已核定規格、02技術設計及2026-09-07本機原型。正式LINE、雲端持久資料庫、登入、XLSX與備份還原未完成。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5910082fa42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9222eb53704d22" /><Relationship Type="http://schemas.openxmlformats.org/officeDocument/2006/relationships/slideLayout" Target="/ppt/slideLayouts/slideLayout1.xml" Id="Re927ca2bc85c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27ca2bc85c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b8b6871cb47e1" /><Relationship Type="http://schemas.openxmlformats.org/officeDocument/2006/relationships/image" Target="/ppt/media/image.png" Id="Rb764b8cde10c4ad4" /><Relationship Type="http://schemas.openxmlformats.org/officeDocument/2006/relationships/notesSlide" Target="/ppt/notesSlides/notesSlide1.xml" Id="Rb08dc6c5f48f4e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7e6876b944d39" /><Relationship Type="http://schemas.openxmlformats.org/officeDocument/2006/relationships/notesSlide" Target="/ppt/notesSlides/notesSlide2.xml" Id="Rd6079774de2347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5829689134cbf" /><Relationship Type="http://schemas.openxmlformats.org/officeDocument/2006/relationships/notesSlide" Target="/ppt/notesSlides/notesSlide3.xml" Id="R16a60625b506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44f3da6154d27" /><Relationship Type="http://schemas.openxmlformats.org/officeDocument/2006/relationships/image" Target="/ppt/media/image2.png" Id="Red78f33e426e4a93" /><Relationship Type="http://schemas.openxmlformats.org/officeDocument/2006/relationships/image" Target="/ppt/media/image3.png" Id="R69f0fc5ba82b4b1d" /><Relationship Type="http://schemas.openxmlformats.org/officeDocument/2006/relationships/notesSlide" Target="/ppt/notesSlides/notesSlide4.xml" Id="R030d5d48d7f044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dbe82a5e04dbc" /><Relationship Type="http://schemas.openxmlformats.org/officeDocument/2006/relationships/image" Target="/ppt/media/image4.png" Id="R578ed3dd34114a71" /><Relationship Type="http://schemas.openxmlformats.org/officeDocument/2006/relationships/image" Target="/ppt/media/image5.png" Id="Rcab3c03f77c24415" /><Relationship Type="http://schemas.openxmlformats.org/officeDocument/2006/relationships/notesSlide" Target="/ppt/notesSlides/notesSlide5.xml" Id="R58077b05b9e947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b004307f24d20" /><Relationship Type="http://schemas.openxmlformats.org/officeDocument/2006/relationships/image" Target="/ppt/media/image6.png" Id="Re7c12353a96342f2" /><Relationship Type="http://schemas.openxmlformats.org/officeDocument/2006/relationships/image" Target="/ppt/media/image7.png" Id="Rb17724f48638497c" /><Relationship Type="http://schemas.openxmlformats.org/officeDocument/2006/relationships/notesSlide" Target="/ppt/notesSlides/notesSlide6.xml" Id="R62980cc369e6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c4c15caad4a6a" /><Relationship Type="http://schemas.openxmlformats.org/officeDocument/2006/relationships/image" Target="/ppt/media/image8.png" Id="R4fcc3c65574d45a6" /><Relationship Type="http://schemas.openxmlformats.org/officeDocument/2006/relationships/image" Target="/ppt/media/image9.png" Id="Ra7f43c6201894a7d" /><Relationship Type="http://schemas.openxmlformats.org/officeDocument/2006/relationships/notesSlide" Target="/ppt/notesSlides/notesSlide7.xml" Id="Rf2641715514247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5493955ab4bfe" /><Relationship Type="http://schemas.openxmlformats.org/officeDocument/2006/relationships/image" Target="/ppt/media/image10.png" Id="Rff7a2c18f2554d01" /><Relationship Type="http://schemas.openxmlformats.org/officeDocument/2006/relationships/image" Target="/ppt/media/image11.png" Id="Rb6652866a5a24485" /><Relationship Type="http://schemas.openxmlformats.org/officeDocument/2006/relationships/notesSlide" Target="/ppt/notesSlides/notesSlide8.xml" Id="R298831711b0543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7e4f605154c22" /><Relationship Type="http://schemas.openxmlformats.org/officeDocument/2006/relationships/image" Target="/ppt/media/image12.png" Id="Ra2b6f64842314fbe" /><Relationship Type="http://schemas.openxmlformats.org/officeDocument/2006/relationships/image" Target="/ppt/media/image13.png" Id="Rf6714b70476c4bf3" /><Relationship Type="http://schemas.openxmlformats.org/officeDocument/2006/relationships/notesSlide" Target="/ppt/notesSlides/notesSlide9.xml" Id="R5d6eb09908d548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b79fe9fbc4f49" /><Relationship Type="http://schemas.openxmlformats.org/officeDocument/2006/relationships/image" Target="/ppt/media/image14.png" Id="R1f9ae8bb4b254f28" /><Relationship Type="http://schemas.openxmlformats.org/officeDocument/2006/relationships/image" Target="/ppt/media/image15.png" Id="Rdf14cd2ac963485f" /><Relationship Type="http://schemas.openxmlformats.org/officeDocument/2006/relationships/notesSlide" Target="/ppt/notesSlides/notesSlide10.xml" Id="R99fae5c11fe141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cd5b8f48f4742" /><Relationship Type="http://schemas.openxmlformats.org/officeDocument/2006/relationships/image" Target="/ppt/media/image16.png" Id="Rc81a56250c9d4eeb" /><Relationship Type="http://schemas.openxmlformats.org/officeDocument/2006/relationships/image" Target="/ppt/media/image17.png" Id="Ra45f6c3c191b484f" /><Relationship Type="http://schemas.openxmlformats.org/officeDocument/2006/relationships/notesSlide" Target="/ppt/notesSlides/notesSlide11.xml" Id="Rbeef8154e6a347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f4dc898fe4198" /><Relationship Type="http://schemas.openxmlformats.org/officeDocument/2006/relationships/image" Target="/ppt/media/image18.png" Id="R7fefc5382733417b" /><Relationship Type="http://schemas.openxmlformats.org/officeDocument/2006/relationships/notesSlide" Target="/ppt/notesSlides/notesSlide12.xml" Id="R407ada4956db49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88030a9084afc" /><Relationship Type="http://schemas.openxmlformats.org/officeDocument/2006/relationships/image" Target="/ppt/media/image19.png" Id="R5f869f9b25904d7d" /><Relationship Type="http://schemas.openxmlformats.org/officeDocument/2006/relationships/notesSlide" Target="/ppt/notesSlides/notesSlide13.xml" Id="Re85a4558ef0c42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f49aaf41d4788" /><Relationship Type="http://schemas.openxmlformats.org/officeDocument/2006/relationships/image" Target="/ppt/media/image20.png" Id="R4c398ddcc05a4594" /><Relationship Type="http://schemas.openxmlformats.org/officeDocument/2006/relationships/notesSlide" Target="/ppt/notesSlides/notesSlide14.xml" Id="R3dd851bfebd042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7d376dc3d4699" /><Relationship Type="http://schemas.openxmlformats.org/officeDocument/2006/relationships/image" Target="/ppt/media/image21.png" Id="Rbeca708e1fd748fe" /><Relationship Type="http://schemas.openxmlformats.org/officeDocument/2006/relationships/notesSlide" Target="/ppt/notesSlides/notesSlide15.xml" Id="Rc2398310f6ee49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495775f1b453b" /><Relationship Type="http://schemas.openxmlformats.org/officeDocument/2006/relationships/image" Target="/ppt/media/image22.png" Id="Rda7751c66f674a61" /><Relationship Type="http://schemas.openxmlformats.org/officeDocument/2006/relationships/notesSlide" Target="/ppt/notesSlides/notesSlide16.xml" Id="R40aca8f7a4cd49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8a98decb54675" /><Relationship Type="http://schemas.openxmlformats.org/officeDocument/2006/relationships/image" Target="/ppt/media/image23.png" Id="R607bb19ada164c34" /><Relationship Type="http://schemas.openxmlformats.org/officeDocument/2006/relationships/notesSlide" Target="/ppt/notesSlides/notesSlide17.xml" Id="R360186940cab47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2fed637cf4c48" /><Relationship Type="http://schemas.openxmlformats.org/officeDocument/2006/relationships/image" Target="/ppt/media/image24.png" Id="R02c334ef70004cef" /><Relationship Type="http://schemas.openxmlformats.org/officeDocument/2006/relationships/notesSlide" Target="/ppt/notesSlides/notesSlide18.xml" Id="R1659e343817f4b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b2672807049dc" /><Relationship Type="http://schemas.openxmlformats.org/officeDocument/2006/relationships/notesSlide" Target="/ppt/notesSlides/notesSlide19.xml" Id="R6d72bbd20f734f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afbbc40ad40ee" /><Relationship Type="http://schemas.openxmlformats.org/officeDocument/2006/relationships/notesSlide" Target="/ppt/notesSlides/notesSlide20.xml" Id="Rde94d6f7082f4d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9b1091e44d88" /><Relationship Type="http://schemas.openxmlformats.org/officeDocument/2006/relationships/notesSlide" Target="/ppt/notesSlides/notesSlide21.xml" Id="R71161ffab81a40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df5dd1a704662" /><Relationship Type="http://schemas.openxmlformats.org/officeDocument/2006/relationships/notesSlide" Target="/ppt/notesSlides/notesSlide22.xml" Id="Re2f0c0031d1345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58d14590042b4" /><Relationship Type="http://schemas.openxmlformats.org/officeDocument/2006/relationships/notesSlide" Target="/ppt/notesSlides/notesSlide23.xml" Id="R587dc1d9668d45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e1d7842d247c5" /><Relationship Type="http://schemas.openxmlformats.org/officeDocument/2006/relationships/notesSlide" Target="/ppt/notesSlides/notesSlide24.xml" Id="Ra62510bbd5dc48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BA1C2-FDA9-40E7-8D0C-EC2569E8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星鴻 LINE 面試預約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58BBB-74CA-4E66-8C56-47503951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交接建置簡報 H1　供同事與其 AI 接手規劃、實作及驗收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EFB33-E107-4FA3-9923-6D5F4616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445EB-C475-428B-8BDA-ED7B1FD0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826AC-BED8-42ED-9B85-42A78B7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@064lhzfu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36D3E-E84C-4C89-A2DE-40C8B2A0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524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求職者在 LINE 完成預約</a:t>
            </a:r>
          </a:p>
          <a:p xmlns:a="http://schemas.openxmlformats.org/drawingml/2006/main">
            <a:pPr>
              <a:defRPr sz="30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同仁在新後台查詢與管理</a:t>
            </a:r>
          </a:p>
          <a:p xmlns:a="http://schemas.openxmlformats.org/drawingml/2006/main">
            <a:pPr>
              <a:defRPr sz="30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人工聊天仍回原 LINE 後台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8EEAA-B887-4310-BE74-3C2EE5C0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7429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已核定：一般共5人、行政獨立5人；</a:t>
            </a:r>
          </a:p>
          <a:p xmlns:a="http://schemas.openxmlformats.org/drawingml/2006/main">
            <a:pPr>
              <a:defRPr sz="232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開放14日，提前1小時截止。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F9352-90D4-4EC5-AFAA-9637645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05625"/>
            <a:ext cx="742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本包包含詳細規格、技術架構、可操作原型、</a:t>
            </a:r>
          </a:p>
          <a:p xmlns:a="http://schemas.openxmlformats.org/drawingml/2006/main">
            <a:pPr>
              <a:defRPr sz="195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AI 分階段指令及正式上線驗收清單。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4b8cde10c4ad4"/>
          <a:stretch xmlns:a="http://schemas.openxmlformats.org/drawingml/2006/main"/>
        </p:blipFill>
        <p:spPr>
          <a:xfrm xmlns:a="http://schemas.openxmlformats.org/drawingml/2006/main">
            <a:off x="10001250" y="1571625"/>
            <a:ext cx="3167063" cy="6334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8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AB7CE-F820-4C5F-B6C3-D8A7A673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已核定的首版範圍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C248C-F16D-499C-A342-2415C94C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先把已經決定的事交接清楚，不讓下一位 AI 重新猜規則。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54512-6D41-49D0-BD4D-81601DFF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19F3A-23FB-4566-BDA2-12D11BA1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28650" y="1562100"/>
          <a:ext xmlns:a="http://schemas.openxmlformats.org/drawingml/2006/main" cx="13982700" cy="622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1125200"/>
              </a:tblGrid>
              <a:tr h="77866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首版規則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</a:tr>
              <a:tr h="7786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必要資料／審核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姓名、電話、職務、應徵地；來源選填。三種職缺都直接預約。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6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開放／截止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含今天14個台灣曆日；每場開始前1小時截止。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  <a:tr h="7786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系統內名額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一般兩職缺共5人；行政獨立5人。系統內人工代約同樣計額。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6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系統外人工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未登錄的人工另約不扣名額，現場合計超額可接受。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  <a:tr h="7786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同人／改期取消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一個LINE身分一筆未來有效約。改期成功才釋舊額；開始前可取消。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86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權限／人工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授權同仁全區同權限。新後台接手、原LINE聊天、明確恢復自動。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  <a:tr h="7786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保留／排除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新預約保留1年。不搬舊資料、不做報到未到、不做自動提醒。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089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F74AA-EE7A-4C15-9DAC-7251A6DE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正式架構與責任分工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38695-ADA1-4CB5-8F5B-FE5CE13C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同一個預約服務，同一份持久資料庫。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F54E5-AC6A-494E-8B59-9539F74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498A2-8E1A-4D53-A744-28364ED8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C26DD-46E8-42F9-91C8-AA98E521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D9E6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E603C-29C9-4CD3-8A3D-C6590A82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LINE 聊天室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A5505-B600-481E-8EBC-867A62C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訊息／按鈕事件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BA391-DF22-4B8C-93E8-8CEFABF6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4572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D9E6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CC165-C369-45FD-B077-817151BE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1930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Webhook 接收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8C0B5-13E7-4DF4-8DA1-29A94DD5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81275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驗簽、去重、人工模式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C43F7-3665-4C4D-BAA3-2F717FDC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809750"/>
            <a:ext cx="4476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D9E6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9BF22-903A-4A95-83C4-65E44A2F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1930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預約服務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65696-3B2A-456F-BA0F-E86FB98A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81275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截止、容量、一人一約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2DEEC-F1F2-4BA5-B52E-47C867A4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91000"/>
            <a:ext cx="4476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D9E6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A4065-7446-4A4F-962A-B4992C03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4005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持久資料庫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6A842-86C1-451A-8C22-9F55B453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962525"/>
            <a:ext cx="405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預約、場次、異動及設定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32939-A5EA-4902-B2C3-B9C15CE2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91000"/>
            <a:ext cx="4572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D9E6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1A33B-C286-44DD-8A5B-E9C0B5FB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0055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新管理後台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FF5BA-CDBA-4F7B-BE4A-829F795B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同仁登入後查詢與管理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BCE51-CCE0-4FA7-89B1-3014C993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D9E6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6CE5C-9BF9-4341-9AD1-E9549A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原 LINE 後台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1B893-0070-4856-AFA6-DA8DE671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主管人工聊天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90CAF-8F06-42B3-BC2B-9C1F9DC1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7170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C6DBA-D794-4F8A-9887-C60EC366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7170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B1BDF-F075-486D-BFFB-26B4A414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3528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3CA24-307F-42D4-B095-F87B64AF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FE28FD-F29B-4F44-B96C-F7AAD8CD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1390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資料庫寫入成功，才用當次 Reply 回覆成立。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8C606D-6C11-4D31-901F-C61E8E08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62775"/>
            <a:ext cx="13906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原 LINE 人工對話不承諾完整同步。首版先評估 Workers + D1 免費方案，</a:t>
            </a:r>
          </a:p>
          <a:p xmlns:a="http://schemas.openxmlformats.org/drawingml/2006/main">
            <a:pPr>
              <a:defRPr sz="21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不啟用付費 AI，不以 Google Sheet 或瀏覽器儲存承擔正式名額管理。</a:t>
            </a:r>
          </a:p>
        </p:txBody>
      </p:sp>
    </p:spTree>
    <p:extLst>
      <p:ext uri="{BB962C8B-B14F-4D97-AF65-F5344CB8AC3E}">
        <p14:creationId xmlns:p14="http://schemas.microsoft.com/office/powerpoint/2010/main" val="1792736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F174B-7EEA-48A1-A34B-A5872E0E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從既有 LINE 入口開始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F86DC-5EA8-4CF0-9577-3EA1919E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104／1111 沿用既有官方帳號連結；舊好友也可以直接操作。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1EFFA-FDB2-44C9-A12B-1C87B967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A580E-DDDA-4E0A-A390-21B8A67B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8f33e426e4a93"/>
          <a:stretch xmlns:a="http://schemas.openxmlformats.org/drawingml/2006/main"/>
        </p:blipFill>
        <p:spPr>
          <a:xfrm xmlns:a="http://schemas.openxmlformats.org/drawingml/2006/main">
            <a:off x="619125" y="1438275"/>
            <a:ext cx="3295650" cy="65913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0fc5ba82b4b1d"/>
          <a:stretch xmlns:a="http://schemas.openxmlformats.org/drawingml/2006/main"/>
        </p:blipFill>
        <p:spPr>
          <a:xfrm xmlns:a="http://schemas.openxmlformats.org/drawingml/2006/main">
            <a:off x="4314825" y="1438275"/>
            <a:ext cx="3295650" cy="659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54174-D6F3-4DB3-8194-F70EFD96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478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固定預約入口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208AE-6765-4503-AB72-03F4AE84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點「預約面試」或傳送相同文字。原 LINE 歡迎訊息保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持現狀。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4EEBD-B3AB-431A-85AF-6FF5C76A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三種職缺直接預約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279C4-36CF-41DF-9E83-A6B3658A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社宅顧問、儲備主管、行政職，填完必要資料即可選場。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2C758-BB3E-4A00-93BD-DF761F82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245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親切且不亂承諾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44143-F184-472A-9F61-46E01BD9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103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首版用按鈕與已核定文案。未知問題交招募同仁。</a:t>
            </a:r>
          </a:p>
        </p:txBody>
      </p:sp>
    </p:spTree>
    <p:extLst>
      <p:ext uri="{BB962C8B-B14F-4D97-AF65-F5344CB8AC3E}">
        <p14:creationId xmlns:p14="http://schemas.microsoft.com/office/powerpoint/2010/main" val="986152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AAAB6-3D87-469B-AC3D-EE39E074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應徵地與基本資料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F5A90-284B-4B5B-80E3-73E8083B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應徵縣市和實際面試分公司分開保存。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8BAB4-D86B-43AF-B101-C6E777A1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E0F29-8E27-4551-8CF8-9320AA0E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ed3dd34114a71"/>
          <a:stretch xmlns:a="http://schemas.openxmlformats.org/drawingml/2006/main"/>
        </p:blipFill>
        <p:spPr>
          <a:xfrm xmlns:a="http://schemas.openxmlformats.org/drawingml/2006/main">
            <a:off x="619125" y="1438275"/>
            <a:ext cx="3295650" cy="65913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3c03f77c24415"/>
          <a:stretch xmlns:a="http://schemas.openxmlformats.org/drawingml/2006/main"/>
        </p:blipFill>
        <p:spPr>
          <a:xfrm xmlns:a="http://schemas.openxmlformats.org/drawingml/2006/main">
            <a:off x="4314825" y="1438275"/>
            <a:ext cx="3295650" cy="659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8818A-35E1-4608-83F2-01878C9F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478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應徵地自己點選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FC6DF-E3BF-43F5-BC23-CEEAFB2A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不由居住地推定，也不再要求性別、年齡或前職。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E2D9A-CCA8-4A85-9E1E-E39D553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只輸入必要資料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C496E-E918-45CE-92D9-2E4C15C4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姓名與電話由求職者輸入，職缺及縣市沿用前面選擇。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FF2A8-947B-439A-A0FA-B2766C7C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245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舊格式仍可辨識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34098-4297-4F45-B517-824FEB05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103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只抽取必要欄位，再請本人核對。含糊或缺項就補問。</a:t>
            </a:r>
          </a:p>
        </p:txBody>
      </p:sp>
    </p:spTree>
    <p:extLst>
      <p:ext uri="{BB962C8B-B14F-4D97-AF65-F5344CB8AC3E}">
        <p14:creationId xmlns:p14="http://schemas.microsoft.com/office/powerpoint/2010/main" val="642618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1170A-C356-44A5-98C3-277002A2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電話與可預約日期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FA58-33D8-48C8-999B-F9EF083D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四項必填、來源選填；日期由已發布的場次產生。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ABB9F-5B4A-47A7-819C-A0DA8DF2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A3187-A579-43BF-B0AC-92F2ECC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12353a96342f2"/>
          <a:stretch xmlns:a="http://schemas.openxmlformats.org/drawingml/2006/main"/>
        </p:blipFill>
        <p:spPr>
          <a:xfrm xmlns:a="http://schemas.openxmlformats.org/drawingml/2006/main">
            <a:off x="619125" y="1438275"/>
            <a:ext cx="3295650" cy="65913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724f48638497c"/>
          <a:stretch xmlns:a="http://schemas.openxmlformats.org/drawingml/2006/main"/>
        </p:blipFill>
        <p:spPr>
          <a:xfrm xmlns:a="http://schemas.openxmlformats.org/drawingml/2006/main">
            <a:off x="4314825" y="1438275"/>
            <a:ext cx="3295650" cy="659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A98E6-DA67-46EA-BB5B-F68933AA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478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電話只做格式確認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AC3EC-E2C6-4C3C-98ED-311B0E19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首版没有簡訊驗證，不能宣稱已驗證電話持有人。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97AA7-7E03-410D-93EE-5D6576C9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含今天開放14日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B2D86-9B72-4437-B17E-12BA748B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使用 Asia/Taipei。示範9/7開放至9/20，不多開第15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B88F3-6BD6-4950-8807-C65BD402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245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先過濾不適用場次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4D5F1-FF13-41C3-ABA3-403425F8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103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日期須有未截止、未關閉且尚有名額的可用時間。</a:t>
            </a:r>
          </a:p>
        </p:txBody>
      </p:sp>
    </p:spTree>
    <p:extLst>
      <p:ext uri="{BB962C8B-B14F-4D97-AF65-F5344CB8AC3E}">
        <p14:creationId xmlns:p14="http://schemas.microsoft.com/office/powerpoint/2010/main" val="2377945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9CFF6-DE94-4FF7-935A-8F98A8D6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選時段與最後核對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2A495-8EE7-4745-A45E-1BE25F0F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看到按鈕不代表已經保留名額。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345F2-B68B-4F0F-B682-F3A6B297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F5429-82CF-46BB-ACBA-6B072DB7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c3c65574d45a6"/>
          <a:stretch xmlns:a="http://schemas.openxmlformats.org/drawingml/2006/main"/>
        </p:blipFill>
        <p:spPr>
          <a:xfrm xmlns:a="http://schemas.openxmlformats.org/drawingml/2006/main">
            <a:off x="619125" y="1438275"/>
            <a:ext cx="3295650" cy="65913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43c6201894a7d"/>
          <a:stretch xmlns:a="http://schemas.openxmlformats.org/drawingml/2006/main"/>
        </p:blipFill>
        <p:spPr>
          <a:xfrm xmlns:a="http://schemas.openxmlformats.org/drawingml/2006/main">
            <a:off x="4314825" y="1438275"/>
            <a:ext cx="3295650" cy="659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00EA2-9E82-49FA-8992-A75E48CA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478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具體年月日與時間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FD8F4-A211-4CAB-AB06-3DA47EF9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例如2026/09/10（四）16:00，不只寫「禮拜四」。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93A61-FCD0-4537-B48B-D5CA13DE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提前一小時截止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86E87-D356-4020-AEE8-01454F7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14:00場12:59可約，13:00起關閉。確認當下後端再檢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3297B-0887-42FF-88F3-182365C3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245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最終確認才成立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806B1-ADA2-4FFC-82C3-7BBD700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103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核對職務、姓名電話、應徵地、面試地與日期時間。</a:t>
            </a:r>
          </a:p>
        </p:txBody>
      </p:sp>
    </p:spTree>
    <p:extLst>
      <p:ext uri="{BB962C8B-B14F-4D97-AF65-F5344CB8AC3E}">
        <p14:creationId xmlns:p14="http://schemas.microsoft.com/office/powerpoint/2010/main" val="20532379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8C573-3F95-42BF-9324-601CF44A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完成預約與查詢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27058-D256-4395-AA52-0AFF9490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成功確認後有預約編號、時間、地址及到場提醒。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EC886-C266-4EFC-AEAD-437F3752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01270-CCF4-4437-9626-817E54E1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a2c18f2554d01"/>
          <a:stretch xmlns:a="http://schemas.openxmlformats.org/drawingml/2006/main"/>
        </p:blipFill>
        <p:spPr>
          <a:xfrm xmlns:a="http://schemas.openxmlformats.org/drawingml/2006/main">
            <a:off x="619125" y="1438275"/>
            <a:ext cx="3295650" cy="65913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52866a5a24485"/>
          <a:stretch xmlns:a="http://schemas.openxmlformats.org/drawingml/2006/main"/>
        </p:blipFill>
        <p:spPr>
          <a:xfrm xmlns:a="http://schemas.openxmlformats.org/drawingml/2006/main">
            <a:off x="4314825" y="1438275"/>
            <a:ext cx="3295650" cy="659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6304E-8AC9-46AD-B7B0-8D2E3656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478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同一人一筆未來有效約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2F56F-2243-4EB1-A7A5-B926F0AB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再點預約會導向原約。換時間、地區或職務使用修改。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82C73-95B4-4C03-BA46-EF2E597C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到場資訊按分公司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130A9-ADBA-4DEF-83C9-72EDBF2C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帶入地址、樓層、自備原子筆與團體面試說明。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B18DF-C0C2-4450-B3AD-82771E6F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245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訊息失敗另外記錄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DDDC9-746A-4B78-8DB2-E9E768EA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103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已寫入但Reply失敗仍是已成立，不能再建一笔或偷偷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Push。</a:t>
            </a:r>
          </a:p>
        </p:txBody>
      </p:sp>
    </p:spTree>
    <p:extLst>
      <p:ext uri="{BB962C8B-B14F-4D97-AF65-F5344CB8AC3E}">
        <p14:creationId xmlns:p14="http://schemas.microsoft.com/office/powerpoint/2010/main" val="480369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5D320-F08F-4381-9ACF-79A75DF9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改期與取消保留歷程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6BF42-5145-4BD6-B3D9-ABBE4A5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新場確認成功才釋放原名額；取消前再確認。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A76B8-104F-4B94-81D5-954D413A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760ED-491C-415E-A499-B4BD6CC4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6f64842314fbe"/>
          <a:stretch xmlns:a="http://schemas.openxmlformats.org/drawingml/2006/main"/>
        </p:blipFill>
        <p:spPr>
          <a:xfrm xmlns:a="http://schemas.openxmlformats.org/drawingml/2006/main">
            <a:off x="619125" y="1438275"/>
            <a:ext cx="3295650" cy="65913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14b70476c4bf3"/>
          <a:stretch xmlns:a="http://schemas.openxmlformats.org/drawingml/2006/main"/>
        </p:blipFill>
        <p:spPr>
          <a:xfrm xmlns:a="http://schemas.openxmlformats.org/drawingml/2006/main">
            <a:off x="4314825" y="1438275"/>
            <a:ext cx="3295650" cy="659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DA70B-5118-4D6B-8EED-A829DD21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478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改期失敗原約保留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BB17C-C8EE-4F77-84F7-311F6AD4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新場已滿、截止或寫入失敗，原場次與名額都不能先移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71223-FE86-40F4-B6F6-5AD6C2AB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面試開始前可取消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BB56C-3ED5-4283-BED8-7C0C195A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例如14:00場13:59可取消，14:00起不可自助取消。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6C019-D6F2-40CE-89F1-9DBFC66B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245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不維護報到與未到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DECC5-AD38-4A94-B178-5FFBC228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103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超過面試時間只成為歷史預約，不推定面試結果。</a:t>
            </a:r>
          </a:p>
        </p:txBody>
      </p:sp>
    </p:spTree>
    <p:extLst>
      <p:ext uri="{BB962C8B-B14F-4D97-AF65-F5344CB8AC3E}">
        <p14:creationId xmlns:p14="http://schemas.microsoft.com/office/powerpoint/2010/main" val="1302276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74C1F-0F48-49B0-B64D-5FFA7DFC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南投與行政職的特殊安排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9CFC8-EFD5-4C36-9851-F7F326CB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南投使用目的地名額；行政場次獨立計數。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527D8-ADE1-4FBE-ABFA-93282914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DCC04-4596-46B1-B0B5-E55B7A3A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ae8bb4b254f28"/>
          <a:stretch xmlns:a="http://schemas.openxmlformats.org/drawingml/2006/main"/>
        </p:blipFill>
        <p:spPr>
          <a:xfrm xmlns:a="http://schemas.openxmlformats.org/drawingml/2006/main">
            <a:off x="619125" y="1438275"/>
            <a:ext cx="3295650" cy="65913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4cd2ac963485f"/>
          <a:stretch xmlns:a="http://schemas.openxmlformats.org/drawingml/2006/main"/>
        </p:blipFill>
        <p:spPr>
          <a:xfrm xmlns:a="http://schemas.openxmlformats.org/drawingml/2006/main">
            <a:off x="4314825" y="1438275"/>
            <a:ext cx="3295650" cy="659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5050E-59E3-46FC-8AE2-370788A8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478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南投仍保留應徵地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49DD5-6D96-492E-91A3-63341D58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選到台中或彰化面試，與該地一般職缺共用5人，之後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可在草屯辦公。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090BA-B3CD-4A6C-B719-A77CDF8C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行政週三14:00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A5D6E-225A-467F-914A-2DD507F4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統一台中文心路，主管TOBY，填完資料直接預約。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D0C02-8337-4308-A84D-2B465BD4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245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兩組各自5人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D1F54-ED4C-4F8D-9121-81E06EA7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103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台中週三14:00，一般合計5人、行政獨立5人，系統最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多10人。</a:t>
            </a:r>
          </a:p>
        </p:txBody>
      </p:sp>
    </p:spTree>
    <p:extLst>
      <p:ext uri="{BB962C8B-B14F-4D97-AF65-F5344CB8AC3E}">
        <p14:creationId xmlns:p14="http://schemas.microsoft.com/office/powerpoint/2010/main" val="5972624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F1A3D-7791-42C2-8876-3DA897EB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額滿處理與固定 FAQ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EB2C-0C88-4F03-93BC-5148D4BB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系統不接第六人，沒有候補或人工超額按鈕。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B4D8F-676C-4638-BBE7-A6BEA07A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6E29F-2096-4D13-A5E0-2834CFB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a56250c9d4eeb"/>
          <a:stretch xmlns:a="http://schemas.openxmlformats.org/drawingml/2006/main"/>
        </p:blipFill>
        <p:spPr>
          <a:xfrm xmlns:a="http://schemas.openxmlformats.org/drawingml/2006/main">
            <a:off x="619125" y="1438275"/>
            <a:ext cx="3295650" cy="65913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f6c3c191b484f"/>
          <a:stretch xmlns:a="http://schemas.openxmlformats.org/drawingml/2006/main"/>
        </p:blipFill>
        <p:spPr>
          <a:xfrm xmlns:a="http://schemas.openxmlformats.org/drawingml/2006/main">
            <a:off x="4314825" y="1438275"/>
            <a:ext cx="3295650" cy="659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C3DA2-8664-47CE-912A-313EA0E3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478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一般兩職缺共用容量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8B67C-3D38-4A64-BC26-FC4EDF3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社宅3人＋儲備2人即滿。人工在新後台代約也算在內。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4ED96-368F-4F98-BC06-18740FB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現場合計可能超額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8874D-C6B4-4198-9AC2-3AE182AD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系統外人工另約不扣新系統名額，此例外不等於系統不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限額。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66F1D-D77C-494B-9861-BCF22D7A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24525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常見問題用核定內容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F85FB-6CFA-48F1-9FE5-A7DBD162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10300"/>
            <a:ext cx="62579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薪資、工時、工作與辦公室安排可維護，行政未核定問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題交人工。</a:t>
            </a:r>
          </a:p>
        </p:txBody>
      </p:sp>
    </p:spTree>
    <p:extLst>
      <p:ext uri="{BB962C8B-B14F-4D97-AF65-F5344CB8AC3E}">
        <p14:creationId xmlns:p14="http://schemas.microsoft.com/office/powerpoint/2010/main" val="5940449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E7858-C562-48F6-BF08-C47E845F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管理者先看場次人數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FF39F-8B47-4D23-BA91-A6DD65C1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全體授權同仁都看全區，統計使用面試日期。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70639-0B2E-4E4A-B765-E5F879CE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708D9-1308-414A-87B9-4408F721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fc5382733417b"/>
          <a:stretch xmlns:a="http://schemas.openxmlformats.org/drawingml/2006/main"/>
        </p:blipFill>
        <p:spPr>
          <a:xfrm xmlns:a="http://schemas.openxmlformats.org/drawingml/2006/main">
            <a:off x="609600" y="1495425"/>
            <a:ext cx="10210800" cy="61565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453B1-9AAA-474D-9114-4B6EAA95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666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各組名額一眼看清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86E53-6E71-4D0B-9236-69E409AC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526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一般與行政分列，人數、容量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與剩餘數可回查。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8626F-2B71-40F5-AAFE-46A55914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052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數字範圍明確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AE48B-5CEE-4353-88AA-EABD7EC8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不含未登錄人工約。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行政是總預約的一部分，不能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重複相加。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51B06-7972-4EC5-B4E6-E0247EC9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435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點人數進名單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1DE11-177A-4182-ACEE-1AFF25B8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帶入同場日期、時間與分組查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詢。</a:t>
            </a:r>
          </a:p>
        </p:txBody>
      </p:sp>
    </p:spTree>
    <p:extLst>
      <p:ext uri="{BB962C8B-B14F-4D97-AF65-F5344CB8AC3E}">
        <p14:creationId xmlns:p14="http://schemas.microsoft.com/office/powerpoint/2010/main" val="1428515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11CF3-F50F-49CE-BBB9-95DDC5DB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預約查詢與匯出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836A4-4C90-487E-B471-FB427888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名單、場次總數與匯出共用同一組篩選條件。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BBAC7-354D-4036-9DDA-183FB092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8198F-3AAA-446F-9A5A-415FB4C6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69f9b25904d7d"/>
          <a:stretch xmlns:a="http://schemas.openxmlformats.org/drawingml/2006/main"/>
        </p:blipFill>
        <p:spPr>
          <a:xfrm xmlns:a="http://schemas.openxmlformats.org/drawingml/2006/main">
            <a:off x="609600" y="1495425"/>
            <a:ext cx="10210800" cy="61565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9B5A8-F97B-4041-9C9C-5CBD85B8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666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找場次也能找人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C6C9E-AA2E-4B3D-94F0-A2524648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526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依姓名、電話、編號、職缺、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地點及日期查詢。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DFE8B-4C4C-4325-BEAC-53CA3C6D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052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下載真正 XLSX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277F6-393B-4B6A-8DAF-B1D72471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正式版需完整符合筆數，電話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按文字保存，不輸出LINE身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分憑證。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6AD23-A11B-4875-8577-FDA050D0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435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原型誠實標示未做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FEF6C-7E12-4C2D-AD07-5CE60519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目前匯出按鈕停用，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不以CSV改名代替。</a:t>
            </a:r>
          </a:p>
        </p:txBody>
      </p:sp>
    </p:spTree>
    <p:extLst>
      <p:ext uri="{BB962C8B-B14F-4D97-AF65-F5344CB8AC3E}">
        <p14:creationId xmlns:p14="http://schemas.microsoft.com/office/powerpoint/2010/main" val="15235943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F43D3-8F12-4E4C-9618-C08538F3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預約明細與異動記錄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80C08-6B8F-4F59-9D22-BD84F9FF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記錄預約本身，不承諾原 LINE 全部對話同步。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9E760-9017-4789-8AA3-A26E1F8F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C2A9B-84F0-4509-8BB7-F7876740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98ddcc05a4594"/>
          <a:stretch xmlns:a="http://schemas.openxmlformats.org/drawingml/2006/main"/>
        </p:blipFill>
        <p:spPr>
          <a:xfrm xmlns:a="http://schemas.openxmlformats.org/drawingml/2006/main">
            <a:off x="609600" y="1495425"/>
            <a:ext cx="10210800" cy="61565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46D77-C6F7-4E6D-841C-30E15979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666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保存確認快照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4BBC1-6E4D-437D-87EC-917B456C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526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姓名電話、應徵地、日期地址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與行政主管。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744D1-D3AE-48F4-A883-605D6986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052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改期取消有歷程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811EB-05C8-4B99-B968-7C036ED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保留操作者和時間，不覆蓋原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變動紀錄。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75DE9-FD21-4E8E-AD65-66DD4759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435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人工代約同規則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C8DD0-944E-4EBE-B306-7723A1F9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正式版同樣檢查容量、一人一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約；本機僅示範本人自助異動。</a:t>
            </a:r>
          </a:p>
        </p:txBody>
      </p:sp>
    </p:spTree>
    <p:extLst>
      <p:ext uri="{BB962C8B-B14F-4D97-AF65-F5344CB8AC3E}">
        <p14:creationId xmlns:p14="http://schemas.microsoft.com/office/powerpoint/2010/main" val="5680144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63A1D-FDBB-4794-A115-3F2283DE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時段與容量集中管理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3AA46-C1A0-49ED-AD62-2F571199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每週規則和單場停辦分開，已有預約不默默搬動。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C854B-5E2D-42C3-A0C3-C52893D2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F1D90-7F03-4EA0-B0DB-D72CF4B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a708e1fd748fe"/>
          <a:stretch xmlns:a="http://schemas.openxmlformats.org/drawingml/2006/main"/>
        </p:blipFill>
        <p:spPr>
          <a:xfrm xmlns:a="http://schemas.openxmlformats.org/drawingml/2006/main">
            <a:off x="609600" y="1495425"/>
            <a:ext cx="10210800" cy="61565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B7511-3E86-477B-8F7D-49580657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666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台中採現行時段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30C9A-7728-4FC1-BBAB-D75D5916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526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一般與行政分組維護，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其他分公司各有排程。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AC08C-56B5-420D-A458-13E38F13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052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草稿先預覽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29D9B-371A-4D03-9997-04CBE581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檢查移除或降容量的影響；已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有預約全部保留。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4BFD1-8D18-47DD-9F77-960B7274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435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正式版還需生效日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CEE79-0966-47B0-B2F4-939D0FC9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原型發布只改本機新選項，正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式需版本衝突與生效日期。</a:t>
            </a:r>
          </a:p>
        </p:txBody>
      </p:sp>
    </p:spTree>
    <p:extLst>
      <p:ext uri="{BB962C8B-B14F-4D97-AF65-F5344CB8AC3E}">
        <p14:creationId xmlns:p14="http://schemas.microsoft.com/office/powerpoint/2010/main" val="2271871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1B17B-164A-49A7-AF9B-CECC6412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罐頭訊息集中管理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90754-F488-4028-B6A4-44E413DC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草稿、預覽、發布與版本分清楚。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4B67F-35BF-4652-9E5F-2EE0089A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02CE9-1EC3-42FC-A3DF-B7CE3546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751c66f674a61"/>
          <a:stretch xmlns:a="http://schemas.openxmlformats.org/drawingml/2006/main"/>
        </p:blipFill>
        <p:spPr>
          <a:xfrm xmlns:a="http://schemas.openxmlformats.org/drawingml/2006/main">
            <a:off x="609600" y="1495425"/>
            <a:ext cx="10210800" cy="61565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C17C9-C3E7-4BE4-A9B4-CFBEE503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666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候選人用發布版本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B5019-B931-485B-A611-3538D45D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526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本機FAQ已測草稿不影響、發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布後才變更。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1C668-F0EE-4431-AE8F-8C548811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052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職缺適用範圍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37821-8B06-4097-A789-9DE96A51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一般薪資不能當行政薪資。未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知內容轉人工。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580D5-0A0D-4167-BA25-C9983ADF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435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不承諾雙向同步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A402C-F5BE-42C6-B1EA-5AF2826F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原LINE既有預設訊息仍在原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後台管理。</a:t>
            </a:r>
          </a:p>
        </p:txBody>
      </p:sp>
    </p:spTree>
    <p:extLst>
      <p:ext uri="{BB962C8B-B14F-4D97-AF65-F5344CB8AC3E}">
        <p14:creationId xmlns:p14="http://schemas.microsoft.com/office/powerpoint/2010/main" val="16192620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D3ACF-C828-4416-96BD-94409FE4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人工接手仍回原 LINE 聊天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B7D86-CA52-434B-B11F-6FF148E1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已核定的操作：人工接手、回原 LINE、恢復自動。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F7718-7805-4F2A-84B6-85D90901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DED73-0870-400C-97AB-7171FAF2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bb19ada164c34"/>
          <a:stretch xmlns:a="http://schemas.openxmlformats.org/drawingml/2006/main"/>
        </p:blipFill>
        <p:spPr>
          <a:xfrm xmlns:a="http://schemas.openxmlformats.org/drawingml/2006/main">
            <a:off x="609600" y="1495425"/>
            <a:ext cx="10210800" cy="61565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DC36F-6C90-44A3-983E-624B0E3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666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逐人暫停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47C39-BC6D-4139-AEFF-6E1A295D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526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A由人工處理不影響B。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接手狀態須存伺服器。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2EC43-73C4-4C8E-946B-40F823D6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052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明確恢復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B4C2F-79A9-4665-AE07-5D702EF0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重載、換同仁或新訊息，都不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會自動解除。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08E13-DE9A-4E7B-9EA1-86E015C8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435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不建新收件匣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270C1-128A-4BB4-8650-97685478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只有狀態與待處理名單，没有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新的聊天輸入框。</a:t>
            </a:r>
          </a:p>
        </p:txBody>
      </p:sp>
    </p:spTree>
    <p:extLst>
      <p:ext uri="{BB962C8B-B14F-4D97-AF65-F5344CB8AC3E}">
        <p14:creationId xmlns:p14="http://schemas.microsoft.com/office/powerpoint/2010/main" val="14205535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57625-7549-4868-85A7-FA7A3784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假日、颱風與臨時停辦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0E072-887A-48DC-A5B8-0188B49F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所有授權同仁都可關閉場次，再回原 LINE 人工通知。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9271E-8664-4C26-8B15-C3325DCB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6955A-3E72-4BD6-AABF-1BC2842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334ef70004cef"/>
          <a:stretch xmlns:a="http://schemas.openxmlformats.org/drawingml/2006/main"/>
        </p:blipFill>
        <p:spPr>
          <a:xfrm xmlns:a="http://schemas.openxmlformats.org/drawingml/2006/main">
            <a:off x="609600" y="1495425"/>
            <a:ext cx="10210800" cy="61565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F40B2-3E21-4F79-8F9F-509BDA58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666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關閉後不再新約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D8A43-D078-42BD-A1B9-7B208A1D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526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既有預約與聯絡資料仍保留，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可查受影響名單。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82C67-40AD-42DA-BAE6-41002627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052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不自動改期或群發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06B17-A687-43E6-9719-BE598A64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同仁逐一處理，確認新場成功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才修改原約。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CB550-6702-4840-AF25-DA12DF4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435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沒有自動提醒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B37B3-F7C5-43ED-B42E-6F7E966D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333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前一天、當天提醒及付費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Push不在首版。</a:t>
            </a:r>
          </a:p>
        </p:txBody>
      </p:sp>
    </p:spTree>
    <p:extLst>
      <p:ext uri="{BB962C8B-B14F-4D97-AF65-F5344CB8AC3E}">
        <p14:creationId xmlns:p14="http://schemas.microsoft.com/office/powerpoint/2010/main" val="20620888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5DA74-C097-4C5D-8BB5-1607E3D6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資料結構與唯一依據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E35CB-794C-4877-B0FF-8650B4C4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正式資料表、索引及欄位詳見02；本機原型僅作操作參考。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45956-625C-4BEF-8CFB-E19E3664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CF4F3-C433-42DD-8832-DE546E0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28650" y="1562100"/>
          <a:ext xmlns:a="http://schemas.openxmlformats.org/drawingml/2006/main" cx="13982700" cy="622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619750"/>
                <a:gridCol w="5505450"/>
              </a:tblGrid>
              <a:tr h="889907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資料域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主要內容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不可省略的約束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候選人／預約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四欄個資、LINE身分、確認快照、狀態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身分唯一；未來有效一人一約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場次／排程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面試地、日期時間、general/admin、容量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面試地＋時點＋分組唯一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預約事件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新約、改期、取消、同仁代操作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交易內一致，重送不重複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對話／人工模式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auto、pending_human、human及步驟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人工mode持久，不因草稿TTL解除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罐頭／設定版本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草稿、發布、生效日、操作者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已有預約快照不被新設定重寫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事件／發送／稽核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去重、重試狀態、Reply結果、匯出歷程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成立與送達分開，日志去識別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680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B42A0-6728-4481-9E60-59FEFAA9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三項必須用真實資料庫驗證的交易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41518-47C4-45C9-9FC3-6BA99EF3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本機同步程式通過，不代表正式多人並發也安全。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94D23-735D-4C33-A122-664E5A0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364CF-51CF-4038-96FD-0A4BF792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0B2D8-A3D0-4F18-B857-A5A84E4E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最後一名競爭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53FAD-5E2A-4E48-91E1-2DF35A2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6572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一般已有4人，兩人同時確認，只能成功1人；資料庫在寫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入當下守住容量。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F49F2-BE77-47F9-B18F-A0330E3C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同人重送與兩場競爭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071E9-A659-4C35-8C42-4A6DF6B1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572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相同事件只建立一次，不同事件仍檢查一人一約；不能只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在前端禁用按鈕。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D8BC5-8A24-4E07-9EB2-1E54D749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改期失敗回滾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DF8F2-3CBA-4FFD-A18A-77C2412E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6572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新場額滿、關閉或寫入失敗，原預約與原名額保持不變。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73378-A78D-4DA4-A590-ED6EF21F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D1 技術底線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DE645-D0C6-42D0-80E6-22CE07D4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batch 支援順序交易與失敗回滾。</a:t>
            </a:r>
          </a:p>
          <a:p xmlns:a="http://schemas.openxmlformats.org/drawingml/2006/main">
            <a:pPr>
              <a:def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容量、guard、預約與事件必須在資料庫</a:t>
            </a:r>
          </a:p>
          <a:p xmlns:a="http://schemas.openxmlformats.org/drawingml/2006/main">
            <a:pPr>
              <a:def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內保持一致。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1281B-2F51-4716-89E8-9F4D2F1D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053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先在 batch 外查人數，</a:t>
            </a:r>
          </a:p>
          <a:p xmlns:a="http://schemas.openxmlformats.org/drawingml/2006/main">
            <a:pPr>
              <a:defRPr sz="2475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再無條件 INSERT，仍可能超賣。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1E4A7-7E3D-4C7C-9647-05B16CD6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838950"/>
            <a:ext cx="619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階段B須交出真DB並發與故障注入證據，</a:t>
            </a:r>
          </a:p>
          <a:p xmlns:a="http://schemas.openxmlformats.org/drawingml/2006/main">
            <a:pPr>
              <a:defRPr sz="202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不能以畫面或mock測試取代。</a:t>
            </a:r>
          </a:p>
        </p:txBody>
      </p:sp>
    </p:spTree>
    <p:extLst>
      <p:ext uri="{BB962C8B-B14F-4D97-AF65-F5344CB8AC3E}">
        <p14:creationId xmlns:p14="http://schemas.microsoft.com/office/powerpoint/2010/main" val="7184457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1F099-2D25-438C-A57E-41C627F2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以零新增月費為目標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DF7AF-6DA0-469E-85F4-94747B95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不接付費 AI、不買外掛、不做自動面試提醒。價格查核日2026-09-07。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AA9FA-1AD7-492C-9B93-6D743E94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2A686-0B91-4C7C-BDDE-05F46814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28650" y="1562100"/>
          <a:ext xmlns:a="http://schemas.openxmlformats.org/drawingml/2006/main" cx="13982700" cy="622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619750"/>
                <a:gridCol w="5600700"/>
              </a:tblGrid>
              <a:tr h="8899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首版方向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費用界線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LINE 互動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當次訊息／Postback用Reply即時回覆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Reply不計月量；延遲通知不得視為免費Reply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模型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不呼叫生成式AI API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ChatGPT Pro與Claude Max不含此bot的API費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雲端服務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評估Workers Free + D1 Free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免費額度、CPU、登入、備份須實測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網址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先用測試網址，正式優先公司子網域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沒有可用網域時可能有年費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LINE 月方案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優先維持輕用量，不預設升級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輕用量含200計量訊息；主動推播需另估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99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維護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由公司帳號持有、同仁配合技術維護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人力、儲存或付費升級均需先批准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5827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33AB5-2436-4D0C-A8E9-CAACBDD5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登入、保存與上線界線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E410C-0F82-4BE4-B03A-5BB092A5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全同仁同權限，仍需每人登入、授權與操作紀錄。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433D3-3A9A-4AD7-A904-67A5CA30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D80D8-B0D4-4D28-B7A6-1EED4263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34110-C491-4C84-823B-8A10F24B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最少個資與一年保存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A4F0D-9E41-4202-92FE-118DA8DC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6572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按面試日期起算1年；改期用最後確認日，取消用原定日。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快照、備註、備份及匯出也納入管理。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86353-9632-40D1-8A44-FC0487F9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秘密不進交接檔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6427A-85CF-4DA4-9107-89417090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6572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不附密碼、驗證碼、token、cookie、真實聊天或履歷。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公司持有人自行在安全介面設定。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A6CA9-269E-4611-A1F6-BADF4B2B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先測試，核准後才正式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9F9D1-4E8D-4711-808D-D4BDE8BD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6572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専用測試LINE、真資料庫交易、登入、XLSX、備份還原與</a:t>
            </a:r>
          </a:p>
          <a:p xmlns:a="http://schemas.openxmlformats.org/drawingml/2006/main">
            <a:pPr>
              <a:def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人工共存都需驗收。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8DEE8-CF80-4834-B599-28B2C953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604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本次完成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A29BD-70A1-4EBC-8B31-BE8B6C1C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33650"/>
            <a:ext cx="604837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詳細規格與架構</a:t>
            </a:r>
          </a:p>
          <a:p xmlns:a="http://schemas.openxmlformats.org/drawingml/2006/main">
            <a:pPr>
              <a:def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可操作本機原型與新版簡報</a:t>
            </a:r>
          </a:p>
          <a:p xmlns:a="http://schemas.openxmlformats.org/drawingml/2006/main">
            <a:pPr>
              <a:def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37項本機UI／規則檢查</a:t>
            </a:r>
          </a:p>
          <a:p xmlns:a="http://schemas.openxmlformats.org/drawingml/2006/main">
            <a:pPr>
              <a:def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AI指令與正式驗收案例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741AD-98A9-4489-A17B-9741D882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05425"/>
            <a:ext cx="604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尚未完成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57BDD-77B6-4F05-94B2-CE13B8D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076950"/>
            <a:ext cx="60483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正式LINE串接、雲端持久資料庫、</a:t>
            </a:r>
          </a:p>
          <a:p xmlns:a="http://schemas.openxmlformats.org/drawingml/2006/main">
            <a:pPr>
              <a:defRPr sz="21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多人並發、登入權限、XLSX匯出、</a:t>
            </a:r>
          </a:p>
          <a:p xmlns:a="http://schemas.openxmlformats.org/drawingml/2006/main">
            <a:pPr>
              <a:defRPr sz="21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備份還原與一年保存清理。</a:t>
            </a:r>
          </a:p>
        </p:txBody>
      </p:sp>
    </p:spTree>
    <p:extLst>
      <p:ext uri="{BB962C8B-B14F-4D97-AF65-F5344CB8AC3E}">
        <p14:creationId xmlns:p14="http://schemas.microsoft.com/office/powerpoint/2010/main" val="7798591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E3E75-6B90-40A7-8CD1-306020E7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同事與 AI 的執行順序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674D8-953A-4D35-9E9A-C7BC02A4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先讀規格，再分階段真正實作。每階段都交付測試證據。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4C6B3-D607-4C77-B08C-AEF8E209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6AB64-EA1F-4DFA-BD48-0D364B24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28650" y="1562100"/>
          <a:ext xmlns:a="http://schemas.openxmlformats.org/drawingml/2006/main" cx="13982700" cy="622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172200"/>
                <a:gridCol w="5524500"/>
              </a:tblGrid>
              <a:tr h="10382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AI應產出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通往下一步的證據</a:t>
                      </a:r>
                    </a:p>
                  </a:txBody>
                  <a:tcPr marL="91440" marR="91440" marT="45720" marB="45720">
                    <a:solidFill>
                      <a:srgbClr val="E3F1E8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 接手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已讀清單、差異、選型、repo與測試環境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不重問核定規則，不擅自加購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 核心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資料表、排程、原子占額、冪等與改期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真DB最後一名／同人競爭／失敗回滾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 後台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登入、全區查詢、設定、人工模式、XLSX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兩個登入身分共用資料、授權與匯出測試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 測試LINE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簽章、Postback、Reply、人工共存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真手機全流程、不插話、不重複歡迎</a:t>
                      </a:r>
                    </a:p>
                  </a:txBody>
                  <a:tcPr marL="91440" marR="91440" marT="45720" marB="45720">
                    <a:solidFill>
                      <a:srgbClr val="F5F8F6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 上線審查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費用、備份還原、保存清理、回退與Go/No-Go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0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關鍵項通過且公司明確核准才改正式設定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017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CC929-DB08-42A5-8E0C-B15A9994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402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接手時要補的資料與閱讀順序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AA1FB-7646-4289-BAA0-17013AFA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398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已確認的十項業務決策不用再問，只補執行所需資料。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BC21B-A7B3-4A87-833B-249B9316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1323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H1 交接版 · 2026.09.07　｜　畫面為本機假資料原型，非正式 LINE 實機或已部署服務。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D6810-DDBC-4D01-9075-4B5DA895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915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417F4-04E7-4F18-A189-C3D4753D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公司上線前提供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CE9BF-B1B4-44B8-9150-CA294A93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6572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測試LINE與公司雲端帳號的操作權限</a:t>
            </a:r>
          </a:p>
          <a:p xmlns:a="http://schemas.openxmlformats.org/drawingml/2006/main">
            <a:pPr>
              <a:def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2～3位同仁登入信箱</a:t>
            </a:r>
          </a:p>
          <a:p xmlns:a="http://schemas.openxmlformats.org/drawingml/2006/main">
            <a:pPr>
              <a:def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公司子網域與DNS窗口</a:t>
            </a:r>
          </a:p>
          <a:p xmlns:a="http://schemas.openxmlformats.org/drawingml/2006/main">
            <a:pPr>
              <a:def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個資用途告知、聯絡及備份負責人</a:t>
            </a:r>
          </a:p>
          <a:p xmlns:a="http://schemas.openxmlformats.org/drawingml/2006/main">
            <a:pPr>
              <a:def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正式切換時間與回退聯絡人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279D1-9903-4F82-A4F9-C4922BD5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6572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行政FAQ與來源追蹤可延後。</a:t>
            </a:r>
          </a:p>
          <a:p xmlns:a="http://schemas.openxmlformats.org/drawingml/2006/main">
            <a:pPr>
              <a:defRPr sz="202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不需要舊名單或人力銀行密碼。</a:t>
            </a:r>
          </a:p>
          <a:p xmlns:a="http://schemas.openxmlformats.org/drawingml/2006/main">
            <a:pPr>
              <a:defRPr sz="202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0766A"/>
                </a:solidFill>
                <a:latin typeface="Microsoft JhengHei"/>
                <a:ea typeface="Microsoft JhengHei"/>
                <a:cs typeface="Microsoft JhengHei"/>
              </a:rPr>
              <a:t>密碼、驗證碼由本人在登入畫面輸入。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121D9-C00E-4EAB-8889-D32EC642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81175"/>
            <a:ext cx="633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08C50"/>
                </a:solidFill>
                <a:latin typeface="Microsoft JhengHei"/>
                <a:ea typeface="Microsoft JhengHei"/>
                <a:cs typeface="Microsoft JhengHei"/>
              </a:rPr>
              <a:t>先開 00_從這裡開始.html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2BF91-3C9E-4D79-B411-896AB288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14625"/>
            <a:ext cx="6238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人看：本簡報與06可操作原型。</a:t>
            </a:r>
          </a:p>
          <a:p xmlns:a="http://schemas.openxmlformats.org/drawingml/2006/main">
            <a:pPr>
              <a:def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AI讀：01需求、02架構、04驗收、05設定。</a:t>
            </a:r>
          </a:p>
          <a:p xmlns:a="http://schemas.openxmlformats.org/drawingml/2006/main">
            <a:pPr>
              <a:def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接著貼03的總指令，再逐階段執行。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EBF6D-2ED3-41E3-83AC-B8EB5153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10225"/>
            <a:ext cx="623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目前交付的是完整接手包。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B8C30-D1C2-429E-AC69-4CB5A802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467475"/>
            <a:ext cx="6238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正式上線需另完成整合、驗收與核准；</a:t>
            </a:r>
          </a:p>
          <a:p xmlns:a="http://schemas.openxmlformats.org/drawingml/2006/main">
            <a:pPr>
              <a:def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C3027"/>
                </a:solidFill>
                <a:latin typeface="Microsoft JhengHei"/>
                <a:ea typeface="Microsoft JhengHei"/>
                <a:cs typeface="Microsoft JhengHei"/>
              </a:rPr>
              <a:t>不能直接把本機HTML當作正式服務。</a:t>
            </a:r>
          </a:p>
        </p:txBody>
      </p:sp>
    </p:spTree>
    <p:extLst>
      <p:ext uri="{BB962C8B-B14F-4D97-AF65-F5344CB8AC3E}">
        <p14:creationId xmlns:p14="http://schemas.microsoft.com/office/powerpoint/2010/main" val="998994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2026-09-07T11:41:45.4720000Z</dcterms:created>
  <dcterms:modified xsi:type="dcterms:W3CDTF">2026-09-07T11:41:45.4720000Z</dcterms:modified>
</coreProperties>
</file>